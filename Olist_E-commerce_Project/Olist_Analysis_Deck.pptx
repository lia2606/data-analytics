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  <a:srgbClr val="DC2626"/>
    <a:srgbClr val="9CA3AF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457"/>
    <p:restoredTop sz="94610"/>
  </p:normalViewPr>
  <p:slideViewPr>
    <p:cSldViewPr snapToGrid="0" snapToObjects="1">
      <p:cViewPr>
        <p:scale>
          <a:sx n="90" d="100"/>
          <a:sy n="90" d="100"/>
        </p:scale>
        <p:origin x="-28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986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Problems,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Different Solutions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&amp; Delivery Performance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Marketplace  |  100K+ Orders  |  Sept 2016 – Oct 2018</a:t>
            </a:r>
            <a:endParaRPr lang="en-US" sz="1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B261CD0-E273-F471-5628-96FEBA43872E}"/>
              </a:ext>
            </a:extLst>
          </p:cNvPr>
          <p:cNvSpPr/>
          <p:nvPr/>
        </p:nvSpPr>
        <p:spPr>
          <a:xfrm>
            <a:off x="851337" y="4688666"/>
            <a:ext cx="14441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Yaeryung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Lee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Distinct Problems Found in EDA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94960" cy="1371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Bipolarity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review scores polarizing into 1-star and 5-star extremes?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 cause review collapse. Delays concentrate among 13% of sellers.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seller management + segment-specific delivery buffer.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539496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Repurchase Rate (3.12%)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0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97% of customers never return despite high OTDR?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40233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functions as a transactional pipeline. Reviews and on-time delivery do not predict return.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cross-sell + voucher mechanisms. Realistic 8% repeat rate target.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Approach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Hypothesis-driven testing across two parallel problems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103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123444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2344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9 tables, identify 2 anomalies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0048" y="3429000"/>
            <a:ext cx="100584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2788920" y="2286000"/>
            <a:ext cx="2103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347472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3474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88036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Tree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each problem into testable causes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10328" y="3429000"/>
            <a:ext cx="100584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029200" y="2286000"/>
            <a:ext cx="2103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571500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57150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2064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Testing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ANOVA, Chi-square, Pareto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50608" y="3429000"/>
            <a:ext cx="100584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7269480" y="2286000"/>
            <a:ext cx="2103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795528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79552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6092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Sub-Analysis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0664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validated hypotheses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90888" y="3429000"/>
            <a:ext cx="100584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9509760" y="2286000"/>
            <a:ext cx="2103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1019556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1019556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60120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Action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4692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Differentiated, logic-based recommendations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problem follows the same 5-step framework but produces independent conclusions and actions.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Bipolarity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review scores splitting into extreme 1-star and 5-star polarity?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 /  EDA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 Show Bipolar Distribution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OBSERVATION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69.3%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reviews concentrate at 5-stars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1-star - middle scores are rare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score: 4.02 / 5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bimodal, not normal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2860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service quality were uniformly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or bad, scores would cluster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mean.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0" y="36576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Bipolarity implies a binary cause: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something either works or fails dramatically.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operational dimension creates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split?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 /  HYPOTHESIS 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Hypotheses Tested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rejected through structural or analytical evidence; one validated.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73152" cy="54864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Delivery Date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3% of orders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0" y="2221992"/>
            <a:ext cx="1463040" cy="310896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0058400" y="22219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73152" cy="54864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Don't Exist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gaps, low volume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0" y="2862072"/>
            <a:ext cx="1463040" cy="310896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0058400" y="28620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73152" cy="54864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Product Info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1.85% of products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0" y="3502152"/>
            <a:ext cx="1463040" cy="310896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0058400" y="35021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73152" cy="54864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31520" y="4114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delivered orders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58400" y="4142232"/>
            <a:ext cx="1463040" cy="310896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0058400" y="4142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73152" cy="54864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731520" y="4754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6304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Price-Satisfaction Mismatch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burden + review check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058400" y="4782312"/>
            <a:ext cx="1463040" cy="310896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0058400" y="4782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457200" y="5303520"/>
            <a:ext cx="73152" cy="5486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731520" y="5394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46304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66928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significant threshold effect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058400" y="5422392"/>
            <a:ext cx="1463040" cy="31089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0058400" y="54223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 /  REJECTED HYPOTHESIS DEEP-DIVE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H2: Geographic Imbalance &amp; Freight Cost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analysis whose rejection naturally led to H6 (Delivery Delay).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Sellers don't exist in 4 of 27 states, while customers exist in every state. </a:t>
            </a: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Long-distance shipping to remote states could drive high freight costs and</a:t>
            </a:r>
            <a:r>
              <a:rPr lang="ko-KR" alt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long delivery days which ultimately cause</a:t>
            </a: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 drops.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TEST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</a:t>
            </a: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distribution × review</a:t>
            </a:r>
            <a:r>
              <a:rPr lang="ko-KR" alt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→ No effect</a:t>
            </a:r>
          </a:p>
          <a:p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2.  Freight burden × review</a:t>
            </a:r>
            <a:r>
              <a:rPr lang="ko-KR" alt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→ No effect</a:t>
            </a:r>
          </a:p>
          <a:p>
            <a:r>
              <a:rPr lang="en-US" sz="1200" dirty="0">
                <a:solidFill>
                  <a:srgbClr val="FF000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3.  Combined freight + delay effect</a:t>
            </a:r>
            <a:r>
              <a:rPr lang="ko-KR" altLang="en-US" sz="1200" dirty="0">
                <a:solidFill>
                  <a:srgbClr val="FF000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Delay drives drops</a:t>
            </a:r>
          </a:p>
        </p:txBody>
      </p:sp>
      <p:sp>
        <p:nvSpPr>
          <p:cNvPr id="12" name="Text 10"/>
          <p:cNvSpPr/>
          <p:nvPr/>
        </p:nvSpPr>
        <p:spPr>
          <a:xfrm>
            <a:off x="685800" y="5715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Rejection became the bridge to H6.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 ·  REVIEW BY STATE (selected)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029968"/>
            <a:ext cx="118872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4736592" y="202996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2029968"/>
            <a:ext cx="155448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5925312" y="20299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0" y="2029968"/>
            <a:ext cx="155448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479792" y="20299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61120" y="2029968"/>
            <a:ext cx="155448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9034272" y="20299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249424"/>
            <a:ext cx="118872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4736592" y="224942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52160" y="2249424"/>
            <a:ext cx="155448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5925312" y="22494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06640" y="2249424"/>
            <a:ext cx="155448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7479792" y="22494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61120" y="2249424"/>
            <a:ext cx="155448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9034272" y="22494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450592"/>
            <a:ext cx="118872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4736592" y="245059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52160" y="2450592"/>
            <a:ext cx="155448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5925312" y="245059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4.43%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06640" y="2450592"/>
            <a:ext cx="155448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7479792" y="245059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961120" y="2450592"/>
            <a:ext cx="155448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9034272" y="245059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651760"/>
            <a:ext cx="118872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4736592" y="265176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52160" y="2651760"/>
            <a:ext cx="155448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5925312" y="26517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6.92%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06640" y="2651760"/>
            <a:ext cx="155448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7479792" y="26517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961120" y="2651760"/>
            <a:ext cx="155448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9034272" y="26517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2852928"/>
            <a:ext cx="118872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4736592" y="28529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52160" y="2852928"/>
            <a:ext cx="155448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5925312" y="285292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06640" y="2852928"/>
            <a:ext cx="155448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7479792" y="285292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961120" y="2852928"/>
            <a:ext cx="155448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Text 51"/>
          <p:cNvSpPr/>
          <p:nvPr/>
        </p:nvSpPr>
        <p:spPr>
          <a:xfrm>
            <a:off x="9034272" y="285292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3054096"/>
            <a:ext cx="118872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4736592" y="305409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52160" y="3054096"/>
            <a:ext cx="155448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5925312" y="305409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406640" y="3054096"/>
            <a:ext cx="155448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7479792" y="305409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961120" y="3054096"/>
            <a:ext cx="155448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9034272" y="305409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663440" y="327355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stay 3.6–4.2 across all 27 states despite uneven seller distribution.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663440" y="352958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  ·  REVIEW BY FREIGHT BURDEN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3776472"/>
            <a:ext cx="274320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4736592" y="377647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Band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406640" y="3776472"/>
            <a:ext cx="210312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7" name="Text 65"/>
          <p:cNvSpPr/>
          <p:nvPr/>
        </p:nvSpPr>
        <p:spPr>
          <a:xfrm>
            <a:off x="7479792" y="377647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509760" y="3776472"/>
            <a:ext cx="219456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9582912" y="3776472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63440" y="3995928"/>
            <a:ext cx="274320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/>
          <p:cNvSpPr/>
          <p:nvPr/>
        </p:nvSpPr>
        <p:spPr>
          <a:xfrm>
            <a:off x="4736592" y="399592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(&gt;50%)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406640" y="3995928"/>
            <a:ext cx="210312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3" name="Text 71"/>
          <p:cNvSpPr/>
          <p:nvPr/>
        </p:nvSpPr>
        <p:spPr>
          <a:xfrm>
            <a:off x="7479792" y="399592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509760" y="3995928"/>
            <a:ext cx="219456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5" name="Text 73"/>
          <p:cNvSpPr/>
          <p:nvPr/>
        </p:nvSpPr>
        <p:spPr>
          <a:xfrm>
            <a:off x="9582912" y="39959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15,742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63440" y="4197096"/>
            <a:ext cx="274320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7" name="Text 75"/>
          <p:cNvSpPr/>
          <p:nvPr/>
        </p:nvSpPr>
        <p:spPr>
          <a:xfrm>
            <a:off x="4736592" y="4197096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(25–50%)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406640" y="4197096"/>
            <a:ext cx="210312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9" name="Text 77"/>
          <p:cNvSpPr/>
          <p:nvPr/>
        </p:nvSpPr>
        <p:spPr>
          <a:xfrm>
            <a:off x="7479792" y="419709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9509760" y="4197096"/>
            <a:ext cx="2194560" cy="201168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1" name="Text 79"/>
          <p:cNvSpPr/>
          <p:nvPr/>
        </p:nvSpPr>
        <p:spPr>
          <a:xfrm>
            <a:off x="9582912" y="419709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28,179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663440" y="4398264"/>
            <a:ext cx="274320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3" name="Text 81"/>
          <p:cNvSpPr/>
          <p:nvPr/>
        </p:nvSpPr>
        <p:spPr>
          <a:xfrm>
            <a:off x="4736592" y="439826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(&lt;25%)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406640" y="4398264"/>
            <a:ext cx="210312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5" name="Text 83"/>
          <p:cNvSpPr/>
          <p:nvPr/>
        </p:nvSpPr>
        <p:spPr>
          <a:xfrm>
            <a:off x="7479792" y="439826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9509760" y="4398264"/>
            <a:ext cx="2194560" cy="2011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7" name="Text 85"/>
          <p:cNvSpPr/>
          <p:nvPr/>
        </p:nvSpPr>
        <p:spPr>
          <a:xfrm>
            <a:off x="9582912" y="439826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54,745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663440" y="461772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freight bands score identical 4.1 — freight alone does not depress reviews.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663440" y="487375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  ·  COMBINED EFFECT  —  KEY FINDING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663440" y="5120640"/>
            <a:ext cx="274320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1" name="Text 89"/>
          <p:cNvSpPr/>
          <p:nvPr/>
        </p:nvSpPr>
        <p:spPr>
          <a:xfrm>
            <a:off x="4736592" y="512064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406640" y="5120640"/>
            <a:ext cx="210312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3" name="Text 91"/>
          <p:cNvSpPr/>
          <p:nvPr/>
        </p:nvSpPr>
        <p:spPr>
          <a:xfrm>
            <a:off x="7479792" y="512064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509760" y="5120640"/>
            <a:ext cx="219456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5" name="Text 93"/>
          <p:cNvSpPr/>
          <p:nvPr/>
        </p:nvSpPr>
        <p:spPr>
          <a:xfrm>
            <a:off x="9582912" y="512064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5340096"/>
            <a:ext cx="2743200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7" name="Text 95"/>
          <p:cNvSpPr/>
          <p:nvPr/>
        </p:nvSpPr>
        <p:spPr>
          <a:xfrm>
            <a:off x="4736592" y="534009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Freight Only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406640" y="5340096"/>
            <a:ext cx="2103120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9" name="Text 97"/>
          <p:cNvSpPr/>
          <p:nvPr/>
        </p:nvSpPr>
        <p:spPr>
          <a:xfrm>
            <a:off x="7479792" y="534009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509760" y="5340096"/>
            <a:ext cx="2194560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1" name="Text 99"/>
          <p:cNvSpPr/>
          <p:nvPr/>
        </p:nvSpPr>
        <p:spPr>
          <a:xfrm>
            <a:off x="9582912" y="534009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14,650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663440" y="5559552"/>
            <a:ext cx="2743200" cy="219456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3" name="Text 101"/>
          <p:cNvSpPr/>
          <p:nvPr/>
        </p:nvSpPr>
        <p:spPr>
          <a:xfrm>
            <a:off x="4736592" y="555955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Only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406640" y="5559552"/>
            <a:ext cx="2103120" cy="219456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5" name="Text 103"/>
          <p:cNvSpPr/>
          <p:nvPr/>
        </p:nvSpPr>
        <p:spPr>
          <a:xfrm>
            <a:off x="7479792" y="555955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9509760" y="5559552"/>
            <a:ext cx="2194560" cy="219456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7" name="Text 105"/>
          <p:cNvSpPr/>
          <p:nvPr/>
        </p:nvSpPr>
        <p:spPr>
          <a:xfrm>
            <a:off x="9582912" y="5559552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5,442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663440" y="5779008"/>
            <a:ext cx="2743200" cy="219456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9" name="Text 107"/>
          <p:cNvSpPr/>
          <p:nvPr/>
        </p:nvSpPr>
        <p:spPr>
          <a:xfrm>
            <a:off x="4736592" y="577900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(Freight + Late)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7406640" y="5779008"/>
            <a:ext cx="2103120" cy="219456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1" name="Text 109"/>
          <p:cNvSpPr/>
          <p:nvPr/>
        </p:nvSpPr>
        <p:spPr>
          <a:xfrm>
            <a:off x="7479792" y="577900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9509760" y="5779008"/>
            <a:ext cx="2194560" cy="219456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3" name="Text 111"/>
          <p:cNvSpPr/>
          <p:nvPr/>
        </p:nvSpPr>
        <p:spPr>
          <a:xfrm>
            <a:off x="9582912" y="5779008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1,092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4663440" y="5998464"/>
            <a:ext cx="2743200" cy="219456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5" name="Text 113"/>
          <p:cNvSpPr/>
          <p:nvPr/>
        </p:nvSpPr>
        <p:spPr>
          <a:xfrm>
            <a:off x="4736592" y="599846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7406640" y="5998464"/>
            <a:ext cx="2103120" cy="219456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7" name="Text 115"/>
          <p:cNvSpPr/>
          <p:nvPr/>
        </p:nvSpPr>
        <p:spPr>
          <a:xfrm>
            <a:off x="7479792" y="599846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9509760" y="5998464"/>
            <a:ext cx="2194560" cy="219456"/>
          </a:xfrm>
          <a:prstGeom prst="rect">
            <a:avLst/>
          </a:prstGeom>
          <a:solidFill>
            <a:srgbClr val="F8F9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9" name="Text 117"/>
          <p:cNvSpPr/>
          <p:nvPr/>
        </p:nvSpPr>
        <p:spPr>
          <a:xfrm>
            <a:off x="9582912" y="59984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77,474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4663440" y="62636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collapse only when delay is present — regardless of freight cost. Customers tolerate expensive shipping; they punish broken promises.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2" name="Text 1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 /  VALIDATED HYPOTHESIS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H6: Delivery Delay Causes Review Collapse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RESULT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one-day delay against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promised delivery date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 statistically significant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drop.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effect, not gradient.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-0.30 (weak linear)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ANOVA confirms non-linear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threshold relationship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2286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 alone would have missed this.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0" y="2926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of -0.30 looks weak. ANOVA on grouped data revealed the real shape: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7490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orders: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high reviews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day delayed: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review drop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4937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Delivery delay operates as a binary trust event, not a continuous degradation. This shapes the entire downstream strategy: prevent delays from happening, not just minimize their length.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 /  SELLER PARETO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Delays Concentrate in 13% of Sellers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recommending a buffer, tested whether delays are platform-wide or seller-specific.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late deliveries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from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13.3%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sellers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349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394 out of 2,970 sellers responsible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80% of all late orders.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834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Tighter than standard 80/20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Seller-targeted intervention is highly viable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buffer policy would over-correct for the 87% of sellers performing well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who exactly are these 394 sellers? Do they share characteristics?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 /  CROSS-ANALYSIS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GMV × Late Orders: 4-Quadrant Seller Matrix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743200" cy="2286000"/>
          </a:xfrm>
          <a:prstGeom prst="rect">
            <a:avLst/>
          </a:prstGeom>
          <a:solidFill>
            <a:srgbClr val="16A34A">
              <a:alpha val="15000"/>
            </a:srgbClr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257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 GMV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 Late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743200" cy="2286000"/>
          </a:xfrm>
          <a:prstGeom prst="rect">
            <a:avLst/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35204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278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58.3% GMV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68.3% Late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2743200" cy="2286000"/>
          </a:xfrm>
          <a:prstGeom prst="rect">
            <a:avLst/>
          </a:prstGeom>
          <a:solidFill>
            <a:srgbClr val="9CA3AF">
              <a:alpha val="15000"/>
            </a:srgbClr>
          </a:solidFill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2,319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5074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 GMV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349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 Late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3977640"/>
            <a:ext cx="2743200" cy="2286000"/>
          </a:xfrm>
          <a:prstGeom prst="rect">
            <a:avLst/>
          </a:prstGeom>
          <a:solidFill>
            <a:srgbClr val="EA580C">
              <a:alpha val="15000"/>
            </a:srgbClr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352044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CANDIDATE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116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20440" y="5074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 GMV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5349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 Late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GMV 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LATE  |  HIGH LATE 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9.4% of sellers cause 68% of delays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675120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 also generate 58% of GMV.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32918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sellers may be volume-constrained, not malicious; penalizing them risks losing 58% of GMV.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4754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actual quality problem may live in Remove Candidate, not Critical.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5577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slide: which is it — volume effect or quality issue?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 /  SUB-HYPOTHESIS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Effect vs. Quality Issue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late_rate by segment reveals distinct profiles requiring different treatments.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1945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19456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283464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219456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420624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19456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557784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219456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13232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late_rate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0" y="219456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68680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966960" y="2194560"/>
            <a:ext cx="12801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005840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65176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26517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2834640" y="2651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0" y="26517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4206240" y="2651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</a:t>
            </a:r>
            <a:r>
              <a:rPr lang="en-US" altLang="ko-KR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265176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557784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265176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13232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r>
              <a:rPr lang="en-US" altLang="ko-KR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95360" y="26517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8686800" y="2651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66960" y="26517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0058400" y="2651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Volume-driven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154680"/>
            <a:ext cx="219456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6400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0" y="315468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283464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0" y="315468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420624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0" y="3154680"/>
            <a:ext cx="155448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557784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040880" y="3154680"/>
            <a:ext cx="155448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713232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altLang="ko-KR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95360" y="315468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868680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966960" y="3154680"/>
            <a:ext cx="128016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005840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365760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640080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Candidate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0" y="36576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283464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114800" y="36576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Text 51"/>
          <p:cNvSpPr/>
          <p:nvPr/>
        </p:nvSpPr>
        <p:spPr>
          <a:xfrm>
            <a:off x="420624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0" y="365760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557784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040880" y="365760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713232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altLang="ko-KR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altLang="ko-KR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595360" y="36576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868680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3.74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966960" y="36576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10058400" y="3657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issue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48640" y="4160520"/>
            <a:ext cx="219456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Text 61"/>
          <p:cNvSpPr/>
          <p:nvPr/>
        </p:nvSpPr>
        <p:spPr>
          <a:xfrm>
            <a:off x="64008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743200" y="416052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283464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2,319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114800" y="416052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7" name="Text 65"/>
          <p:cNvSpPr/>
          <p:nvPr/>
        </p:nvSpPr>
        <p:spPr>
          <a:xfrm>
            <a:off x="420624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486400" y="4160520"/>
            <a:ext cx="155448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5577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040880" y="4160520"/>
            <a:ext cx="155448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/>
          <p:cNvSpPr/>
          <p:nvPr/>
        </p:nvSpPr>
        <p:spPr>
          <a:xfrm>
            <a:off x="713232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r>
              <a:rPr lang="en-US" altLang="ko-KR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595360" y="416052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3" name="Text 71"/>
          <p:cNvSpPr/>
          <p:nvPr/>
        </p:nvSpPr>
        <p:spPr>
          <a:xfrm>
            <a:off x="868680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4.10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966960" y="4160520"/>
            <a:ext cx="128016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5" name="Text 73"/>
          <p:cNvSpPr/>
          <p:nvPr/>
        </p:nvSpPr>
        <p:spPr>
          <a:xfrm>
            <a:off x="10058400" y="4160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7" name="Shape 75"/>
          <p:cNvSpPr/>
          <p:nvPr/>
        </p:nvSpPr>
        <p:spPr>
          <a:xfrm>
            <a:off x="548640" y="493776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8" name="Text 76"/>
          <p:cNvSpPr/>
          <p:nvPr/>
        </p:nvSpPr>
        <p:spPr>
          <a:xfrm>
            <a:off x="77724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7724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sellers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volume-driven</a:t>
            </a:r>
            <a:r>
              <a:rPr lang="en-US" altLang="ko-KR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ko-KR" alt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infrastructure support, not penalties. </a:t>
            </a: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Candidates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actual quality problem but cost only 2.8% GMV , safe to restrict aggressively.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1" name="Text 7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 /  GEOGRAPHIC PATTERN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 Concentration = Risk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largest seller hub is also its biggest delay risk zone.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SHARE BY SEGMENT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73152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651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46.7%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-12.9pp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73152" cy="50292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3246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73152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3840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+10.9pp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73152" cy="5029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73152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Candidate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4434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73.3%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80560" y="4434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+13.7pp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59.6% of all sellers in SP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194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REVEALS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560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Performers cluster in the south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31546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(Paraná):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 of Top Performers vs 11.3% baseline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(Rio Grande do Sul):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 vs 4.2% baseline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43891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southern logistics hubs outperform the saturated SP market. Density may create congestion, not efficiency.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5212080"/>
            <a:ext cx="530352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00800" y="5394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reversal: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5760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recommendation was "replicate SP model." Data flips this: PR/RS should be the benchmark.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Repurchase Rate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97% of customers never return — even satisfied ones?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 /  EDA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 of Customers Never Return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OBSERVATION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3.12%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repurchase rate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96.88% of customers buy once and never return.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for marketplaces: 20–30%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FRAME THIS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22860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 non-return is too universal to blame on individual service failures.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0" y="33832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even a fraction of dissatisfaction caused exit, we would see 70–80% retention failure - not 97%.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44805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Prioritize structural causes over satisfaction-based explanations.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53035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reframe drove the choice of hypothesis tests: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transactional structure, not service quality.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 /  HYPOTHESIS 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Hypotheses Tested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Service-quality hypotheses rejected; structural hypothesis validated.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73152" cy="68580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496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Reviews → Non-Return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542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0" y="2560320"/>
            <a:ext cx="1463040" cy="329184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0058400" y="2560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73152" cy="68580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31520" y="33192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273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 → Non-Return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319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0" y="3337560"/>
            <a:ext cx="1463040" cy="329184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0058400" y="33375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73152" cy="68580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31520" y="4096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050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Categories → Lower Repeat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096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comparison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0" y="4114800"/>
            <a:ext cx="1463040" cy="329184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0058400" y="4114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73152" cy="6858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31520" y="48737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4828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is a Transactional Pipeline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48737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Multi-test validation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58400" y="4892040"/>
            <a:ext cx="1463040" cy="32918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0058400" y="48920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 /  REJECTED HYPOTHESES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Service-Quality Explanations Failed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73152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Satisfaction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Chi-square: review_score × is_repeat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4114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association. Even 5-star customers fail to return at meaningful rates.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5669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does not predict retention.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78308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4297680" y="1783080"/>
            <a:ext cx="3657600" cy="73152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452628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Delays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2628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628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Chi-square: delivery_status × is_repeat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4114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association. OTDR is 93.4%, but on-time delivery did not change return behavior.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6280" y="5669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does not equal retention.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178308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8138160" y="1783080"/>
            <a:ext cx="3657600" cy="73152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83667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Durable Categories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6676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676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Pivot: category_type vs repeat rate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6676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66760" y="4114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of expectation: Durable: 7.88% (highest), Consumable: 6.88%, Other: 6.60%. Spread only 1.3pp.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66760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66760" y="5669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i="1" dirty="0">
                <a:solidFill>
                  <a:srgbClr val="1E276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Category isn't the variable.</a:t>
            </a:r>
          </a:p>
        </p:txBody>
      </p:sp>
      <p:sp>
        <p:nvSpPr>
          <p:cNvPr id="35" name="Shape 3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 /  VALIDATED HYPOTHESIS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H4: Olist is a Transactional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 of evidence converge on the same structural conclusion.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57600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buy a single item and exit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526280"/>
            <a:ext cx="3200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68580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on basket size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1945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297680" y="2194560"/>
            <a:ext cx="3657600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526280" y="3749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 among voucher users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4526280"/>
            <a:ext cx="3200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452628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validated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association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21945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8138160" y="2194560"/>
            <a:ext cx="3657600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8366760" y="2560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8366760" y="3749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 among multi-item buyers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66760" y="4526280"/>
            <a:ext cx="3200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836676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validated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676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association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Repurchase only occurs when triggered by external incentives or initial multi-item experience. Natural return motivation is absent</a:t>
            </a:r>
            <a:r>
              <a:rPr lang="en-US" altLang="ko-KR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ko-KR" alt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is a platform-identity issue, not an operational one.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Actions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differentiated interventions, prioritized by effort × impact.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#1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Tiered Seller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segments require four distinct policies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278 sellers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58.3% GMV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support: priority pickup, consolidated shipping, free automation tools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5394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22860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3337560" y="2286000"/>
            <a:ext cx="2743200" cy="4114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347472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257 sellers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 GMV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429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6576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extraction, Premium Seller badge, mentor program for Critical sellers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217920" y="2286000"/>
            <a:ext cx="2743200" cy="4114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35508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Candidate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116 sellers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 GMV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429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6576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200000"/>
              </a:lnSpc>
            </a:pPr>
            <a:r>
              <a:rPr lang="en-US" sz="1000" dirty="0"/>
              <a:t>Phased visibility restriction with monitoring of late</a:t>
            </a:r>
            <a:r>
              <a:rPr lang="ko-KR" altLang="en-US" sz="1000" dirty="0"/>
              <a:t> </a:t>
            </a:r>
            <a:r>
              <a:rPr lang="en-US" sz="1000" dirty="0"/>
              <a:t>rate trends. Escalate to order blocking if performance fails to improve.</a:t>
            </a:r>
          </a:p>
        </p:txBody>
      </p:sp>
      <p:sp>
        <p:nvSpPr>
          <p:cNvPr id="33" name="Shape 31"/>
          <p:cNvSpPr/>
          <p:nvPr/>
        </p:nvSpPr>
        <p:spPr>
          <a:xfrm>
            <a:off x="9098280" y="22860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Shape 32"/>
          <p:cNvSpPr/>
          <p:nvPr/>
        </p:nvSpPr>
        <p:spPr>
          <a:xfrm>
            <a:off x="9098280" y="2286000"/>
            <a:ext cx="2743200" cy="41148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923544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23544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2,319 sellers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23544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 GMV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35440" y="3429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35440" y="36576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automated scorecards. Reclassify if thresholds breached.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#2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Strategy Pivot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prior "replicate SP" recommendation.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394960" cy="9144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RECOMMENDATION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SP's logistics model in underperforming states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had the densest seller population and best perceived infrastructure.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 revealed SP concentration correlates with delays; 73% of Remove Candidates and 70% of Critical sellers are in SP.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6309360" y="2194560"/>
            <a:ext cx="5394960" cy="914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RECOMMENDATION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PR/RS as the operational benchmark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39776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Operational analysis of PR/RS Top Performer cohort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Pause new SP onboarding; expand southern seller acquisition</a:t>
            </a:r>
            <a:endParaRPr lang="en-US" sz="12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Logistics-relocation incentives for SP Critical sellers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5394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#3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Differentiated Delivery Buffer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tiered buffers by segment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286000"/>
            <a:ext cx="18288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342900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2286000"/>
            <a:ext cx="5943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25780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274320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429000" y="2743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Minimal buffer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2743200"/>
            <a:ext cx="5943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5257800" y="2743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late rate; absorb volume effect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274320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68580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3337560"/>
            <a:ext cx="182880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 dirty="0"/>
          </a:p>
        </p:txBody>
      </p:sp>
      <p:sp>
        <p:nvSpPr>
          <p:cNvPr id="21" name="Text 19"/>
          <p:cNvSpPr/>
          <p:nvPr/>
        </p:nvSpPr>
        <p:spPr>
          <a:xfrm>
            <a:off x="3429000" y="3337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buffer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3337560"/>
            <a:ext cx="594360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5257800" y="33375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competitive promised dates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8580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Candidate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91840" y="393192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3429000" y="3931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buffer (interim)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20640" y="3931920"/>
            <a:ext cx="5943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5257800" y="3931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protection during exit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274320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85800" y="4526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91840" y="4526280"/>
            <a:ext cx="182880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3429000" y="4526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buffer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20640" y="4526280"/>
            <a:ext cx="594360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5257800" y="45262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application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548640" y="52120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777240" y="5303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" y="5532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late orders while preserving customer-facing promised date competitiveness.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#4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Repurchase Mechanism Redesign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structural ceiling - focus on validated triggers only.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Mandatory Cross-Sell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Surface category-relevant recommendations at every single-item checkout. Use bundle incentives to lift basket size.</a:t>
            </a:r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3337560" y="21945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3520440" y="2377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35204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First-Order Voucher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20440" y="35204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Auto-issued shortly after first purchase with limited expiry. Category-restricted to learn customer preference and trigger second visit.</a:t>
            </a:r>
          </a:p>
        </p:txBody>
      </p:sp>
      <p:sp>
        <p:nvSpPr>
          <p:cNvPr id="19" name="Shape 17"/>
          <p:cNvSpPr/>
          <p:nvPr/>
        </p:nvSpPr>
        <p:spPr>
          <a:xfrm>
            <a:off x="3520440" y="5120640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217920" y="21945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400800" y="2377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4008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34-Day Retargeting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35204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Automated outreach at the median repurchase gap window. Curated based on first-purchase category.</a:t>
            </a:r>
          </a:p>
        </p:txBody>
      </p:sp>
      <p:sp>
        <p:nvSpPr>
          <p:cNvPr id="27" name="Shape 25"/>
          <p:cNvSpPr/>
          <p:nvPr/>
        </p:nvSpPr>
        <p:spPr>
          <a:xfrm>
            <a:off x="6400800" y="5120640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9098280" y="21945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9281160" y="2377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92811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28116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 Target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81160" y="35204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Reframe success metrics to reflect platform's structural ceiling. Operational improvements alone cannot match marketplace benchmarks.</a:t>
            </a:r>
          </a:p>
        </p:txBody>
      </p:sp>
      <p:sp>
        <p:nvSpPr>
          <p:cNvPr id="35" name="Shape 33"/>
          <p:cNvSpPr/>
          <p:nvPr/>
        </p:nvSpPr>
        <p:spPr>
          <a:xfrm>
            <a:off x="9281160" y="5120640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Shape 36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PRIORITY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Matrix: Effort × Impact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280160" y="1943100"/>
            <a:ext cx="9144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417320" y="19431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943100"/>
            <a:ext cx="5943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2331720" y="19431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38160" y="194310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8275320" y="19431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09760" y="194310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646920" y="19431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240030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1463040" y="2519172"/>
            <a:ext cx="54864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463040" y="25191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240030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2331720" y="24003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#1-C: Remove Candidate phase-out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24003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8275320" y="24003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09760" y="24003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9646920" y="24003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80160" y="2903220"/>
            <a:ext cx="9144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1463040" y="3022092"/>
            <a:ext cx="54864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1463040" y="30220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94560" y="2903220"/>
            <a:ext cx="5943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2331720" y="29032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#3: Differentiated buffer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8160" y="290322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8275320" y="29032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509760" y="290322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9646920" y="29032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280160" y="340614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Shape 36"/>
          <p:cNvSpPr/>
          <p:nvPr/>
        </p:nvSpPr>
        <p:spPr>
          <a:xfrm>
            <a:off x="1463040" y="3525012"/>
            <a:ext cx="5486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463040" y="35250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94560" y="340614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2331720" y="34061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#1-A: Critical infrastructure support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38160" y="34061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8275320" y="34061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509760" y="34061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9646920" y="34061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280160" y="3909060"/>
            <a:ext cx="9144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Shape 47"/>
          <p:cNvSpPr/>
          <p:nvPr/>
        </p:nvSpPr>
        <p:spPr>
          <a:xfrm>
            <a:off x="1463040" y="4027932"/>
            <a:ext cx="5486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0" name="Text 48"/>
          <p:cNvSpPr/>
          <p:nvPr/>
        </p:nvSpPr>
        <p:spPr>
          <a:xfrm>
            <a:off x="1463040" y="40279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94560" y="3909060"/>
            <a:ext cx="5943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2331720" y="39090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#4-A/B: Mandatory cross-sell + voucher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138160" y="390906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8275320" y="39090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509760" y="390906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Text 54"/>
          <p:cNvSpPr/>
          <p:nvPr/>
        </p:nvSpPr>
        <p:spPr>
          <a:xfrm>
            <a:off x="9646920" y="39090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280160" y="441198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/>
          <p:cNvSpPr/>
          <p:nvPr/>
        </p:nvSpPr>
        <p:spPr>
          <a:xfrm>
            <a:off x="1463040" y="4530852"/>
            <a:ext cx="548640" cy="27432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1463040" y="45308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194560" y="441198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Text 61"/>
          <p:cNvSpPr/>
          <p:nvPr/>
        </p:nvSpPr>
        <p:spPr>
          <a:xfrm>
            <a:off x="2331720" y="44119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#2: PR/RS geographic pivot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138160" y="441198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8275320" y="44119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509760" y="441198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7" name="Text 65"/>
          <p:cNvSpPr/>
          <p:nvPr/>
        </p:nvSpPr>
        <p:spPr>
          <a:xfrm>
            <a:off x="9646920" y="44119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280160" y="4914900"/>
            <a:ext cx="9144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Shape 69"/>
          <p:cNvSpPr/>
          <p:nvPr/>
        </p:nvSpPr>
        <p:spPr>
          <a:xfrm>
            <a:off x="1463040" y="5033772"/>
            <a:ext cx="548640" cy="27432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1463040" y="50337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194560" y="4914900"/>
            <a:ext cx="5943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4" name="Text 72"/>
          <p:cNvSpPr/>
          <p:nvPr/>
        </p:nvSpPr>
        <p:spPr>
          <a:xfrm>
            <a:off x="2331720" y="49149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#1-B: Top Performer playbook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38160" y="491490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6" name="Text 74"/>
          <p:cNvSpPr/>
          <p:nvPr/>
        </p:nvSpPr>
        <p:spPr>
          <a:xfrm>
            <a:off x="8275320" y="49149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9509760" y="4914900"/>
            <a:ext cx="137160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Text 76"/>
          <p:cNvSpPr/>
          <p:nvPr/>
        </p:nvSpPr>
        <p:spPr>
          <a:xfrm>
            <a:off x="9646920" y="49149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3" name="Text 8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Limitations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decisions and data constraints worth noting.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73152" cy="128016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GMV ≠ Olist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Olist’s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revenue is unknown. GMV used as proxy for platform impact.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73152" cy="128016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≠ causation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651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DANOVA confirms threshold effect but not full causal chain.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73152" cy="128016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644652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marketing cost data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7091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unknown. Voucher campaign ROI cannot be precisely estimated.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73152" cy="128016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8580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Cohort retention not performed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7091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 (3.12%) too low for cohort matrices to add analytical value.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Analysis  | 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METHODS, FRAMEWORKS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POWER 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 ·  Power Pivot  ·  DAX  ·  Star Schema  ·  Dashboard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 ·  Chi-square  ·  Pareto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 ·  Prioritization Matrix  ·  4-Quadrant Matrix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10332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Olist Brazilian E-commerce Dataset  |  9 tables  |  100K+ orders  |  Sept 2016 – Oct 2018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2280</Words>
  <Application>Microsoft Macintosh PowerPoint</Application>
  <PresentationFormat>Widescreen</PresentationFormat>
  <Paragraphs>546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Analysis</dc:title>
  <dc:subject>PptxGenJS Presentation</dc:subject>
  <dc:creator>Lia</dc:creator>
  <cp:lastModifiedBy>Lia Lee</cp:lastModifiedBy>
  <cp:revision>16</cp:revision>
  <dcterms:created xsi:type="dcterms:W3CDTF">2026-04-15T01:45:53Z</dcterms:created>
  <dcterms:modified xsi:type="dcterms:W3CDTF">2026-04-15T04:13:56Z</dcterms:modified>
</cp:coreProperties>
</file>